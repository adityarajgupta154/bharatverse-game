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kheloindia.gov.in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indiaculture.gov.i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i.nic.in/" TargetMode="External"/><Relationship Id="rId5" Type="http://schemas.openxmlformats.org/officeDocument/2006/relationships/hyperlink" Target="https://whc.unesco.org/" TargetMode="External"/><Relationship Id="rId4" Type="http://schemas.openxmlformats.org/officeDocument/2006/relationships/hyperlink" Target="https://ncert.nic.in/textbook.php" TargetMode="External"/><Relationship Id="rId9" Type="http://schemas.openxmlformats.org/officeDocument/2006/relationships/hyperlink" Target="https://www.unicef.org/innocenti/reports/policy-guidance-ai-childr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410061"/>
            <a:ext cx="6617906" cy="5856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800" b="1" dirty="0">
                <a:solidFill>
                  <a:schemeClr val="tx2"/>
                </a:solidFill>
              </a:rPr>
              <a:t>SIH26208</a:t>
            </a:r>
            <a:endParaRPr lang="en-US" sz="3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Innovation-Challenge your creative mind to conceptualize and develop unique toys and games based on our civilization, history, and culture etc.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>
                <a:solidFill>
                  <a:schemeClr val="tx2"/>
                </a:solidFill>
              </a:rPr>
              <a:t>Toys &amp; Games</a:t>
            </a:r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Beyonders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BharatVerse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3264" y="182319"/>
            <a:ext cx="1425875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Beyonders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9FB74B-3796-0CE5-527A-F31029793AB2}"/>
              </a:ext>
            </a:extLst>
          </p:cNvPr>
          <p:cNvSpPr txBox="1"/>
          <p:nvPr/>
        </p:nvSpPr>
        <p:spPr>
          <a:xfrm>
            <a:off x="4544568" y="26700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24B0E10C-E21A-E616-8BE3-01D504C96A03}"/>
              </a:ext>
            </a:extLst>
          </p:cNvPr>
          <p:cNvSpPr/>
          <p:nvPr/>
        </p:nvSpPr>
        <p:spPr>
          <a:xfrm>
            <a:off x="256032" y="1316082"/>
            <a:ext cx="3172968" cy="4182954"/>
          </a:xfrm>
          <a:prstGeom prst="snip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DC2DA-0C60-E7A7-66F2-3B789D867FD3}"/>
              </a:ext>
            </a:extLst>
          </p:cNvPr>
          <p:cNvSpPr txBox="1"/>
          <p:nvPr/>
        </p:nvSpPr>
        <p:spPr>
          <a:xfrm>
            <a:off x="276954" y="1990977"/>
            <a:ext cx="3282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41E812-1008-EED1-1B61-8C364BFB7062}"/>
              </a:ext>
            </a:extLst>
          </p:cNvPr>
          <p:cNvSpPr txBox="1"/>
          <p:nvPr/>
        </p:nvSpPr>
        <p:spPr>
          <a:xfrm>
            <a:off x="6135624" y="19751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D4F5BF-1083-D1D0-8A54-4CC19E99874D}"/>
              </a:ext>
            </a:extLst>
          </p:cNvPr>
          <p:cNvSpPr txBox="1"/>
          <p:nvPr/>
        </p:nvSpPr>
        <p:spPr>
          <a:xfrm>
            <a:off x="1036201" y="1408950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</a:rPr>
              <a:t>PROBLEM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202010-9263-A170-FC7D-1DCAFDD6F788}"/>
              </a:ext>
            </a:extLst>
          </p:cNvPr>
          <p:cNvSpPr txBox="1"/>
          <p:nvPr/>
        </p:nvSpPr>
        <p:spPr>
          <a:xfrm>
            <a:off x="276954" y="1883780"/>
            <a:ext cx="3152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Heritage is taught passively</a:t>
            </a:r>
            <a:r>
              <a:rPr lang="en-US" sz="1400" dirty="0"/>
              <a:t> → textbooks and rote memorisation give children no way to experience history.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01AEBC-E9AA-52B6-23C1-917A1DE64C66}"/>
              </a:ext>
            </a:extLst>
          </p:cNvPr>
          <p:cNvSpPr txBox="1"/>
          <p:nvPr/>
        </p:nvSpPr>
        <p:spPr>
          <a:xfrm>
            <a:off x="256032" y="2874681"/>
            <a:ext cx="31729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History feels distant</a:t>
            </a:r>
            <a:r>
              <a:rPr lang="en-US" sz="1400" dirty="0"/>
              <a:t> → ancient cities, crafts and traditions seem disconnected from a child's daily life.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B2E547-4D90-26A8-5FC1-09D3BB47088A}"/>
              </a:ext>
            </a:extLst>
          </p:cNvPr>
          <p:cNvSpPr txBox="1"/>
          <p:nvPr/>
        </p:nvSpPr>
        <p:spPr>
          <a:xfrm>
            <a:off x="235111" y="3601345"/>
            <a:ext cx="307501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Traditional games, crafts and festivals are fading</a:t>
            </a:r>
            <a:r>
              <a:rPr lang="en-US" sz="1400" dirty="0"/>
              <a:t> → children rarely engage with living heritage like kho-kho, rangoli or diyas.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881B91-B79D-A129-B2AD-FBC5EAA63BA9}"/>
              </a:ext>
            </a:extLst>
          </p:cNvPr>
          <p:cNvSpPr txBox="1"/>
          <p:nvPr/>
        </p:nvSpPr>
        <p:spPr>
          <a:xfrm>
            <a:off x="256032" y="4544929"/>
            <a:ext cx="30018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Digital content is static and one-way</a:t>
            </a:r>
            <a:r>
              <a:rPr lang="en-US" sz="1400" dirty="0"/>
              <a:t> → no exploration, no progress, no motivation to return and learn deeper.</a:t>
            </a:r>
          </a:p>
        </p:txBody>
      </p:sp>
      <p:pic>
        <p:nvPicPr>
          <p:cNvPr id="25" name="Picture 24" descr="Preview">
            <a:extLst>
              <a:ext uri="{FF2B5EF4-FFF2-40B4-BE49-F238E27FC236}">
                <a16:creationId xmlns:a16="http://schemas.microsoft.com/office/drawing/2014/main" id="{8B524765-8B9A-F9E7-3F33-B14CD810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309" y="5535830"/>
            <a:ext cx="7861785" cy="770474"/>
          </a:xfrm>
          <a:prstGeom prst="rect">
            <a:avLst/>
          </a:prstGeom>
        </p:spPr>
      </p:pic>
      <p:sp>
        <p:nvSpPr>
          <p:cNvPr id="28" name="Rectangle: Top Corners One Rounded and One Snipped 27">
            <a:extLst>
              <a:ext uri="{FF2B5EF4-FFF2-40B4-BE49-F238E27FC236}">
                <a16:creationId xmlns:a16="http://schemas.microsoft.com/office/drawing/2014/main" id="{E525CCAC-D297-7613-8869-957E3216468F}"/>
              </a:ext>
            </a:extLst>
          </p:cNvPr>
          <p:cNvSpPr/>
          <p:nvPr/>
        </p:nvSpPr>
        <p:spPr>
          <a:xfrm>
            <a:off x="4017144" y="1337523"/>
            <a:ext cx="3172968" cy="4182954"/>
          </a:xfrm>
          <a:prstGeom prst="snipRoundRect">
            <a:avLst/>
          </a:prstGeom>
          <a:gradFill flip="none"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0" scaled="1"/>
            <a:tileRect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13C603-84C3-7A3B-3D2E-27A50304BF3F}"/>
              </a:ext>
            </a:extLst>
          </p:cNvPr>
          <p:cNvSpPr txBox="1"/>
          <p:nvPr/>
        </p:nvSpPr>
        <p:spPr>
          <a:xfrm>
            <a:off x="4411980" y="1501818"/>
            <a:ext cx="3447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accent3">
                    <a:lumMod val="50000"/>
                  </a:schemeClr>
                </a:solidFill>
              </a:rPr>
              <a:t>OUR SOLUTION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5715C6-7AED-0EFC-DB75-F0AE4B866B34}"/>
              </a:ext>
            </a:extLst>
          </p:cNvPr>
          <p:cNvSpPr txBox="1"/>
          <p:nvPr/>
        </p:nvSpPr>
        <p:spPr>
          <a:xfrm>
            <a:off x="4017144" y="1998726"/>
            <a:ext cx="31135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BharatVerse</a:t>
            </a:r>
            <a:r>
              <a:rPr lang="en-US" sz="1400" dirty="0"/>
              <a:t> → a browser 2D game that turns India's heritage into a </a:t>
            </a:r>
            <a:r>
              <a:rPr lang="en-US" sz="1400" b="1" dirty="0"/>
              <a:t>playable map of 5 worlds</a:t>
            </a:r>
            <a:r>
              <a:rPr lang="en-US" sz="1400" dirty="0"/>
              <a:t> — Indus Valley, Magadha, folk arts, traditions &amp; sports.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3C1814-3495-0576-FE7E-26E8F884470D}"/>
              </a:ext>
            </a:extLst>
          </p:cNvPr>
          <p:cNvSpPr txBox="1"/>
          <p:nvPr/>
        </p:nvSpPr>
        <p:spPr>
          <a:xfrm>
            <a:off x="4083438" y="3123660"/>
            <a:ext cx="3113533" cy="1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Learn by doing</a:t>
            </a:r>
            <a:r>
              <a:rPr lang="en-US" sz="1400" dirty="0"/>
              <a:t> → children fix Indus drains, build an ancient city, make Rangoli, light diyas &amp; race Kho-Kho — </a:t>
            </a:r>
            <a:r>
              <a:rPr lang="en-US" sz="1400" b="1" dirty="0"/>
              <a:t>6 working mini-games</a:t>
            </a:r>
            <a:r>
              <a:rPr lang="en-US" sz="1400" dirty="0"/>
              <a:t>, zero rote learning.</a:t>
            </a:r>
          </a:p>
          <a:p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9B447-7FC2-791D-D5EC-5BBF6BE02A4D}"/>
              </a:ext>
            </a:extLst>
          </p:cNvPr>
          <p:cNvSpPr txBox="1"/>
          <p:nvPr/>
        </p:nvSpPr>
        <p:spPr>
          <a:xfrm>
            <a:off x="4053720" y="4216898"/>
            <a:ext cx="31729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Memory Restoration</a:t>
            </a:r>
            <a:r>
              <a:rPr lang="en-US" sz="1400" dirty="0"/>
              <a:t> → every game restores the map's lost memories — </a:t>
            </a:r>
            <a:r>
              <a:rPr lang="en-US" sz="1400" b="1" dirty="0"/>
              <a:t>visible progress</a:t>
            </a:r>
            <a:r>
              <a:rPr lang="en-US" sz="1400" dirty="0"/>
              <a:t> that pulls children back to learn more.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D6E243D8-12E0-1796-E48C-0BCEA7A59965}"/>
              </a:ext>
            </a:extLst>
          </p:cNvPr>
          <p:cNvSpPr/>
          <p:nvPr/>
        </p:nvSpPr>
        <p:spPr>
          <a:xfrm>
            <a:off x="8043999" y="1337523"/>
            <a:ext cx="3912889" cy="236403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98AA9D-E391-28D7-FDFB-06D13C064819}"/>
              </a:ext>
            </a:extLst>
          </p:cNvPr>
          <p:cNvSpPr txBox="1"/>
          <p:nvPr/>
        </p:nvSpPr>
        <p:spPr>
          <a:xfrm>
            <a:off x="9226296" y="1301228"/>
            <a:ext cx="4069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WHY DIFFERENT?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CB4385-370F-4D10-C24F-BC2F79C8BD91}"/>
              </a:ext>
            </a:extLst>
          </p:cNvPr>
          <p:cNvSpPr txBox="1"/>
          <p:nvPr/>
        </p:nvSpPr>
        <p:spPr>
          <a:xfrm>
            <a:off x="8023080" y="1637558"/>
            <a:ext cx="3912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Others digitise heritage — we make it playable.</a:t>
            </a:r>
            <a:r>
              <a:rPr lang="en-US" sz="1200" dirty="0"/>
              <a:t> Every app shows monuments and facts; BharatVerse is the only one where a child </a:t>
            </a:r>
            <a:r>
              <a:rPr lang="en-US" sz="1200" i="1" dirty="0"/>
              <a:t>fixes</a:t>
            </a:r>
            <a:r>
              <a:rPr lang="en-US" sz="1200" dirty="0"/>
              <a:t> the Indus drains, </a:t>
            </a:r>
            <a:r>
              <a:rPr lang="en-US" sz="1200" i="1" dirty="0"/>
              <a:t>builds</a:t>
            </a:r>
            <a:r>
              <a:rPr lang="en-US" sz="1200" dirty="0"/>
              <a:t> the ancient city and </a:t>
            </a:r>
            <a:r>
              <a:rPr lang="en-US" sz="1200" i="1" dirty="0"/>
              <a:t>plays</a:t>
            </a:r>
            <a:r>
              <a:rPr lang="en-US" sz="1200" dirty="0"/>
              <a:t> Kho-Kho — </a:t>
            </a:r>
            <a:r>
              <a:rPr lang="en-US" sz="1200" b="1" dirty="0"/>
              <a:t>you can't forget what you've done yourself.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71ECE5-5428-1FCB-5428-C2A216214334}"/>
              </a:ext>
            </a:extLst>
          </p:cNvPr>
          <p:cNvSpPr txBox="1"/>
          <p:nvPr/>
        </p:nvSpPr>
        <p:spPr>
          <a:xfrm>
            <a:off x="8033146" y="2685898"/>
            <a:ext cx="38172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/>
              <a:t>The first AI guide a parent can trust.</a:t>
            </a:r>
            <a:r>
              <a:rPr lang="en-US" sz="1200"/>
              <a:t> Smriti Didi speaks to children in their own language — but she is engineered to say </a:t>
            </a:r>
            <a:r>
              <a:rPr lang="en-US" sz="1200" b="1"/>
              <a:t>only pre-verified heritage facts</a:t>
            </a:r>
            <a:r>
              <a:rPr lang="en-US" sz="1200"/>
              <a:t>, with safety filters at every step. </a:t>
            </a:r>
            <a:r>
              <a:rPr lang="en-US" sz="1200" b="1"/>
              <a:t>AI for children, with zero risk of AI mistakes.</a:t>
            </a:r>
            <a:endParaRPr lang="en-US" sz="1200"/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14641977-DA98-7168-0177-3B6AB745C03D}"/>
              </a:ext>
            </a:extLst>
          </p:cNvPr>
          <p:cNvSpPr/>
          <p:nvPr/>
        </p:nvSpPr>
        <p:spPr>
          <a:xfrm>
            <a:off x="8043999" y="3858768"/>
            <a:ext cx="3985937" cy="1597899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6E5BBC-8FE8-07BB-DB3A-D7719E47CE77}"/>
              </a:ext>
            </a:extLst>
          </p:cNvPr>
          <p:cNvSpPr txBox="1"/>
          <p:nvPr/>
        </p:nvSpPr>
        <p:spPr>
          <a:xfrm>
            <a:off x="8133487" y="4156495"/>
            <a:ext cx="36920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Children don't study heritage — they play it.</a:t>
            </a:r>
            <a:r>
              <a:rPr lang="en-US" sz="1100" dirty="0"/>
              <a:t> Every lesson is a game they </a:t>
            </a:r>
            <a:r>
              <a:rPr lang="en-US" sz="1100" i="1" dirty="0"/>
              <a:t>do</a:t>
            </a:r>
            <a:r>
              <a:rPr lang="en-US" sz="1100" dirty="0"/>
              <a:t>, so it stays with them for life.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9488D3-76A0-7855-F2A9-58FBF2105DBB}"/>
              </a:ext>
            </a:extLst>
          </p:cNvPr>
          <p:cNvSpPr txBox="1"/>
          <p:nvPr/>
        </p:nvSpPr>
        <p:spPr>
          <a:xfrm>
            <a:off x="8737600" y="3853225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KEY VALUE PROPOSITION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0994C0-179D-3E5C-1A2D-BD4A2209B6BC}"/>
              </a:ext>
            </a:extLst>
          </p:cNvPr>
          <p:cNvSpPr txBox="1"/>
          <p:nvPr/>
        </p:nvSpPr>
        <p:spPr>
          <a:xfrm>
            <a:off x="8152740" y="4555891"/>
            <a:ext cx="3578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 safe AI friend in their own language.</a:t>
            </a:r>
            <a:r>
              <a:rPr lang="en-US" sz="1200" dirty="0"/>
              <a:t> Smriti Didi speaks Hinglish and says only verified facts — learning feels like talking to an elder sister, not reading a textbook.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8F9323-D273-FC7C-EC11-B45823702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92306"/>
            <a:ext cx="8417859" cy="502593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9F5ABB-D77B-FD91-5399-3B58386ECD78}"/>
              </a:ext>
            </a:extLst>
          </p:cNvPr>
          <p:cNvSpPr/>
          <p:nvPr/>
        </p:nvSpPr>
        <p:spPr>
          <a:xfrm>
            <a:off x="8875059" y="2315709"/>
            <a:ext cx="2707341" cy="2226581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3E332D-FBD8-FFA2-9CF6-E7D2F3836ECE}"/>
              </a:ext>
            </a:extLst>
          </p:cNvPr>
          <p:cNvSpPr txBox="1"/>
          <p:nvPr/>
        </p:nvSpPr>
        <p:spPr>
          <a:xfrm>
            <a:off x="9169400" y="2411816"/>
            <a:ext cx="2205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TECH STACK USED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E3F591-43B4-DF7D-4A80-0AF0B59E3EA5}"/>
              </a:ext>
            </a:extLst>
          </p:cNvPr>
          <p:cNvSpPr txBox="1"/>
          <p:nvPr/>
        </p:nvSpPr>
        <p:spPr>
          <a:xfrm>
            <a:off x="9169400" y="2793720"/>
            <a:ext cx="1981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React.js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TypeScript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HTML5 Canvas 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CSS3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React Router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Web Speech API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Phaser </a:t>
            </a:r>
          </a:p>
        </p:txBody>
      </p:sp>
      <p:sp>
        <p:nvSpPr>
          <p:cNvPr id="20" name="Oval 19" descr="Your startup LOGO">
            <a:extLst>
              <a:ext uri="{FF2B5EF4-FFF2-40B4-BE49-F238E27FC236}">
                <a16:creationId xmlns:a16="http://schemas.microsoft.com/office/drawing/2014/main" id="{B823345C-E8A2-C73D-DA0E-C1A0061716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3264" y="173083"/>
            <a:ext cx="1425875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Beyonders</a:t>
            </a:r>
            <a:endParaRPr lang="en-IN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FE59FD8-C6D2-9C4D-1DC4-979E304C2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" y="1087515"/>
            <a:ext cx="5924953" cy="312894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E23C83-D99A-D28F-0344-C7B593F031C8}"/>
              </a:ext>
            </a:extLst>
          </p:cNvPr>
          <p:cNvSpPr/>
          <p:nvPr/>
        </p:nvSpPr>
        <p:spPr>
          <a:xfrm>
            <a:off x="5924951" y="1581135"/>
            <a:ext cx="6008547" cy="24121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E74B08-F92F-F334-71F4-505C02A52F09}"/>
              </a:ext>
            </a:extLst>
          </p:cNvPr>
          <p:cNvSpPr txBox="1"/>
          <p:nvPr/>
        </p:nvSpPr>
        <p:spPr>
          <a:xfrm>
            <a:off x="7626430" y="1629791"/>
            <a:ext cx="2408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TECHNICAL FEASIBILITY</a:t>
            </a:r>
          </a:p>
          <a:p>
            <a:endParaRPr lang="en-US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BACFD6-DE6A-9EF3-0CAE-20C08BF71C43}"/>
              </a:ext>
            </a:extLst>
          </p:cNvPr>
          <p:cNvSpPr txBox="1"/>
          <p:nvPr/>
        </p:nvSpPr>
        <p:spPr>
          <a:xfrm>
            <a:off x="5924951" y="1986624"/>
            <a:ext cx="60960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Working Web Prototype:</a:t>
            </a:r>
            <a:r>
              <a:rPr lang="en-US" sz="1400" dirty="0"/>
              <a:t> Developed using React, TypeScript, Vite and a custom HTML5 Canvas game engine.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104AC-902E-21F6-6860-D646945D9C80}"/>
              </a:ext>
            </a:extLst>
          </p:cNvPr>
          <p:cNvSpPr txBox="1"/>
          <p:nvPr/>
        </p:nvSpPr>
        <p:spPr>
          <a:xfrm>
            <a:off x="5925516" y="2245646"/>
            <a:ext cx="60079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School-Ready Deployment:</a:t>
            </a:r>
            <a:r>
              <a:rPr lang="en-US" sz="1400" dirty="0"/>
              <a:t> Browser-based, no installation, touch/keyboard support and local progress saving.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Safe AI Assistance:</a:t>
            </a:r>
            <a:r>
              <a:rPr lang="en-US" sz="1400" dirty="0"/>
              <a:t> Multilingual interaction with verified facts and multi-layer child-safety filters.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Quality Assurance:</a:t>
            </a:r>
            <a:r>
              <a:rPr lang="en-US" sz="1400" dirty="0"/>
              <a:t> Automated type checks, world-data validation, gameplay-solvability checks and UI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4060C58-6940-45D5-63B8-BE3EB71B4E47}"/>
              </a:ext>
            </a:extLst>
          </p:cNvPr>
          <p:cNvSpPr/>
          <p:nvPr/>
        </p:nvSpPr>
        <p:spPr>
          <a:xfrm>
            <a:off x="5967392" y="4130277"/>
            <a:ext cx="6007982" cy="211333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940506-6BA0-C444-EE91-34062CA83440}"/>
              </a:ext>
            </a:extLst>
          </p:cNvPr>
          <p:cNvSpPr txBox="1"/>
          <p:nvPr/>
        </p:nvSpPr>
        <p:spPr>
          <a:xfrm>
            <a:off x="7717742" y="4158211"/>
            <a:ext cx="61114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ECONOMIC APPROACH</a:t>
            </a:r>
            <a:endParaRPr lang="en-US" u="sng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sz="1200" u="sng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CBCA76-B18E-530F-2442-1FC71731E6CE}"/>
              </a:ext>
            </a:extLst>
          </p:cNvPr>
          <p:cNvSpPr txBox="1"/>
          <p:nvPr/>
        </p:nvSpPr>
        <p:spPr>
          <a:xfrm>
            <a:off x="5967392" y="4472319"/>
            <a:ext cx="59249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No specialized hardware or commercial game engine required</a:t>
            </a:r>
            <a:r>
              <a:rPr lang="en-US" sz="1400" dirty="0"/>
              <a:t>, making it affordable for schools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Browser-based deployment</a:t>
            </a:r>
            <a:r>
              <a:rPr lang="en-US" sz="1400" dirty="0"/>
              <a:t> eliminates installation and maintenance expenses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Reusable game architecture</a:t>
            </a:r>
            <a:r>
              <a:rPr lang="en-US" sz="1400" dirty="0"/>
              <a:t> enables new heritage regions to be added at a lower incremental cost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Phased rollout through schools, CSR and government partnerships</a:t>
            </a:r>
            <a:r>
              <a:rPr lang="en-US" sz="1400" dirty="0"/>
              <a:t> supports sustainable nationwide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8ED90-175B-CF3D-8DBF-666F9E64F070}"/>
              </a:ext>
            </a:extLst>
          </p:cNvPr>
          <p:cNvSpPr txBox="1"/>
          <p:nvPr/>
        </p:nvSpPr>
        <p:spPr>
          <a:xfrm>
            <a:off x="1316467" y="1172480"/>
            <a:ext cx="3526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Risk Assessment and Mitigation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D617A7-9174-D505-8CC9-0A33C6148D6A}"/>
              </a:ext>
            </a:extLst>
          </p:cNvPr>
          <p:cNvSpPr txBox="1"/>
          <p:nvPr/>
        </p:nvSpPr>
        <p:spPr>
          <a:xfrm>
            <a:off x="909760" y="1658453"/>
            <a:ext cx="163239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PROBLEM</a:t>
            </a:r>
            <a:br>
              <a:rPr lang="en-IN" dirty="0"/>
            </a:br>
            <a:r>
              <a:rPr lang="en-IN" sz="1200" b="1" dirty="0"/>
              <a:t>Inaccurate Heritage Information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195A70-9C83-D80F-53A8-B2E243EEF1D5}"/>
              </a:ext>
            </a:extLst>
          </p:cNvPr>
          <p:cNvSpPr txBox="1"/>
          <p:nvPr/>
        </p:nvSpPr>
        <p:spPr>
          <a:xfrm>
            <a:off x="3770780" y="1670642"/>
            <a:ext cx="199634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b="1" dirty="0"/>
              <a:t>SOLUTION</a:t>
            </a:r>
            <a:br>
              <a:rPr lang="en-IN" sz="900" dirty="0"/>
            </a:br>
            <a:r>
              <a:rPr lang="en-IN" sz="1100" b="1" dirty="0"/>
              <a:t>Reviewed Content +</a:t>
            </a:r>
            <a:br>
              <a:rPr lang="en-IN" sz="1100" b="1" dirty="0"/>
            </a:br>
            <a:r>
              <a:rPr lang="en-IN" sz="1100" b="1" dirty="0"/>
              <a:t>Verified Facts Only</a:t>
            </a:r>
            <a:br>
              <a:rPr lang="en-IN" sz="900" dirty="0"/>
            </a:br>
            <a:r>
              <a:rPr lang="en-IN" sz="800" dirty="0"/>
              <a:t>Prevents misleading cultural learning</a:t>
            </a:r>
            <a:endParaRPr lang="en-IN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5139EE-3F9E-B2B8-DE5B-0466079AACB3}"/>
              </a:ext>
            </a:extLst>
          </p:cNvPr>
          <p:cNvSpPr txBox="1"/>
          <p:nvPr/>
        </p:nvSpPr>
        <p:spPr>
          <a:xfrm>
            <a:off x="909760" y="2463311"/>
            <a:ext cx="16323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PROBLEM</a:t>
            </a:r>
          </a:p>
          <a:p>
            <a:r>
              <a:rPr lang="en-IN" sz="1200" b="1" dirty="0"/>
              <a:t>Child Safety &amp;</a:t>
            </a:r>
          </a:p>
          <a:p>
            <a:r>
              <a:rPr lang="en-IN" sz="1200" b="1" dirty="0"/>
              <a:t>Privacy Risks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587EE8-E240-3387-07B2-E6561B41F075}"/>
              </a:ext>
            </a:extLst>
          </p:cNvPr>
          <p:cNvSpPr txBox="1"/>
          <p:nvPr/>
        </p:nvSpPr>
        <p:spPr>
          <a:xfrm>
            <a:off x="909760" y="3248588"/>
            <a:ext cx="1654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PROBLEM</a:t>
            </a:r>
          </a:p>
          <a:p>
            <a:r>
              <a:rPr lang="en-IN" sz="1200" b="1" dirty="0"/>
              <a:t>Low Connectivity &amp;</a:t>
            </a:r>
          </a:p>
          <a:p>
            <a:r>
              <a:rPr lang="en-IN" sz="1200" b="1" dirty="0"/>
              <a:t>Basic School Devices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7E8B4D-6A65-B944-7A14-7892E61D807C}"/>
              </a:ext>
            </a:extLst>
          </p:cNvPr>
          <p:cNvSpPr txBox="1"/>
          <p:nvPr/>
        </p:nvSpPr>
        <p:spPr>
          <a:xfrm>
            <a:off x="3776473" y="2444088"/>
            <a:ext cx="223746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SOLUTION</a:t>
            </a:r>
          </a:p>
          <a:p>
            <a:r>
              <a:rPr lang="en-IN" sz="1100" b="1" dirty="0"/>
              <a:t>Multi-Layer Safety Filters</a:t>
            </a:r>
          </a:p>
          <a:p>
            <a:r>
              <a:rPr lang="en-IN" sz="1100" b="1" dirty="0"/>
              <a:t>+ No Login Required</a:t>
            </a:r>
          </a:p>
          <a:p>
            <a:r>
              <a:rPr lang="en-IN" sz="700" dirty="0"/>
              <a:t>Blocks PII, unsafe content and prompt injection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3FA83E-E78B-4FA6-8142-CAE98DFDC212}"/>
              </a:ext>
            </a:extLst>
          </p:cNvPr>
          <p:cNvSpPr txBox="1"/>
          <p:nvPr/>
        </p:nvSpPr>
        <p:spPr>
          <a:xfrm>
            <a:off x="3776473" y="3246127"/>
            <a:ext cx="213228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SOLUTION</a:t>
            </a:r>
          </a:p>
          <a:p>
            <a:r>
              <a:rPr lang="en-IN" sz="1100" b="1" dirty="0"/>
              <a:t>Lightweight Browser Game</a:t>
            </a:r>
          </a:p>
          <a:p>
            <a:r>
              <a:rPr lang="en-IN" sz="1100" b="1" dirty="0"/>
              <a:t>+ Local Progress Saving</a:t>
            </a:r>
          </a:p>
          <a:p>
            <a:r>
              <a:rPr lang="en-IN" sz="700" dirty="0"/>
              <a:t>No installation; designed for school computers</a:t>
            </a:r>
          </a:p>
        </p:txBody>
      </p:sp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169A1F2E-19BB-88F8-0979-FDEB2BE802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3264" y="173083"/>
            <a:ext cx="1425875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Beyonders</a:t>
            </a:r>
            <a:endParaRPr lang="en-IN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7EFD95-6915-D09D-A03F-47D4B331B188}"/>
              </a:ext>
            </a:extLst>
          </p:cNvPr>
          <p:cNvSpPr/>
          <p:nvPr/>
        </p:nvSpPr>
        <p:spPr>
          <a:xfrm>
            <a:off x="42439" y="4055608"/>
            <a:ext cx="5567423" cy="221455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7D7FE-76B0-EF82-7273-7B028EABE3DC}"/>
              </a:ext>
            </a:extLst>
          </p:cNvPr>
          <p:cNvSpPr txBox="1"/>
          <p:nvPr/>
        </p:nvSpPr>
        <p:spPr>
          <a:xfrm>
            <a:off x="42439" y="4916054"/>
            <a:ext cx="592495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Static web hosting and lightweight </a:t>
            </a:r>
            <a:r>
              <a:rPr lang="en-US" sz="1400" b="1" dirty="0"/>
              <a:t>Node.js server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Stable internet connection for multilingual AI and voice assistance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Verified heritage content, 2D game assets and narration audio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Modern web browser; </a:t>
            </a:r>
            <a:r>
              <a:rPr lang="en-US" sz="1400" b="1" dirty="0"/>
              <a:t>no specialized GPU or commercial game engine required</a:t>
            </a:r>
            <a:endParaRPr lang="en-US" sz="1400" dirty="0"/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EEA55F-B981-6B2A-635E-E4472995DB98}"/>
              </a:ext>
            </a:extLst>
          </p:cNvPr>
          <p:cNvSpPr txBox="1"/>
          <p:nvPr/>
        </p:nvSpPr>
        <p:spPr>
          <a:xfrm>
            <a:off x="42439" y="4430140"/>
            <a:ext cx="5733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Browser-enabled computer, laptop, tablet or smartphone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Open-source technologies: </a:t>
            </a:r>
            <a:r>
              <a:rPr lang="en-US" sz="1400" b="1" dirty="0"/>
              <a:t>React, TypeScript, Vite and HTML5 Canvas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D7FFF8-1E1D-CD74-262C-45E17C3467E9}"/>
              </a:ext>
            </a:extLst>
          </p:cNvPr>
          <p:cNvSpPr txBox="1"/>
          <p:nvPr/>
        </p:nvSpPr>
        <p:spPr>
          <a:xfrm>
            <a:off x="1313726" y="4132713"/>
            <a:ext cx="4768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2">
                    <a:lumMod val="75000"/>
                  </a:schemeClr>
                </a:solidFill>
              </a:rPr>
              <a:t>RESOURCE REQUIREMENTS</a:t>
            </a:r>
          </a:p>
          <a:p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DFB052-5331-C287-37D5-4773FE7D04E3}"/>
              </a:ext>
            </a:extLst>
          </p:cNvPr>
          <p:cNvCxnSpPr>
            <a:cxnSpLocks/>
          </p:cNvCxnSpPr>
          <p:nvPr/>
        </p:nvCxnSpPr>
        <p:spPr>
          <a:xfrm>
            <a:off x="6956385" y="1095375"/>
            <a:ext cx="0" cy="522359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38024F-CC1E-719F-BD54-C64F3BDE1016}"/>
              </a:ext>
            </a:extLst>
          </p:cNvPr>
          <p:cNvSpPr txBox="1"/>
          <p:nvPr/>
        </p:nvSpPr>
        <p:spPr>
          <a:xfrm>
            <a:off x="7153154" y="1095375"/>
            <a:ext cx="4876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        FUTURE PROSPECTS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DBFFF-7399-A0DB-6A76-C44DF9F4C801}"/>
              </a:ext>
            </a:extLst>
          </p:cNvPr>
          <p:cNvSpPr txBox="1"/>
          <p:nvPr/>
        </p:nvSpPr>
        <p:spPr>
          <a:xfrm>
            <a:off x="6956385" y="1643605"/>
            <a:ext cx="5235613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Expand Across India:</a:t>
            </a:r>
            <a:r>
              <a:rPr lang="en-US" sz="1400" dirty="0"/>
              <a:t> Add more states, monuments, folk traditions, festivals, freedom movements and indigenous games as playable heritage worlds.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Government-School Integration:</a:t>
            </a:r>
            <a:r>
              <a:rPr lang="en-US" sz="1400" dirty="0"/>
              <a:t> With government support, BharatVerse can be aligned with the school curriculum and introduced as a </a:t>
            </a:r>
            <a:r>
              <a:rPr lang="en-US" sz="1400" b="1" dirty="0"/>
              <a:t>recommended or structured heritage-learning activity</a:t>
            </a:r>
            <a:r>
              <a:rPr lang="en-US" sz="1400" dirty="0"/>
              <a:t> in government schools.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Partnerships with NGOs:</a:t>
            </a:r>
            <a:r>
              <a:rPr lang="en-US" sz="1400" dirty="0"/>
              <a:t> Collaborate with education and cultural NGOs to provide heritage learning in rural, tribal and underserved communities.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Multilingual Learning:</a:t>
            </a:r>
            <a:r>
              <a:rPr lang="en-US" sz="1400" dirty="0"/>
              <a:t> Introduce regional languages, voice narration and locally relevant stories so children can experience heritage in their mother tongue.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Teacher and Classroom Tools:</a:t>
            </a:r>
            <a:r>
              <a:rPr lang="en-US" sz="1400" dirty="0"/>
              <a:t> Develop lesson plans, classroom activities, teacher dashboards and progress reports for effective school adoption.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AR and Virtual Heritage Tours:</a:t>
            </a:r>
            <a:r>
              <a:rPr lang="en-US" sz="1400" dirty="0"/>
              <a:t> Enable students to experience monuments, historical environments and cultural practices through immersive AR-based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Community-Contributed Heritage:</a:t>
            </a:r>
            <a:r>
              <a:rPr lang="en-US" sz="1200" dirty="0"/>
              <a:t> Allow historians, teachers, museums and local communities to contribute verified regional stories and cultural knowledge.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280DE33D-7FBE-EE6C-D35F-FC5622CEEA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3264" y="173083"/>
            <a:ext cx="1425875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Beyonders</a:t>
            </a:r>
            <a:endParaRPr lang="en-IN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86C5E7-B155-E934-84DE-F36293787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13272"/>
            <a:ext cx="6589115" cy="522359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03A5412-C59B-8C0A-1D3C-AF7A0F51AE86}"/>
              </a:ext>
            </a:extLst>
          </p:cNvPr>
          <p:cNvSpPr txBox="1"/>
          <p:nvPr/>
        </p:nvSpPr>
        <p:spPr>
          <a:xfrm>
            <a:off x="2776232" y="1238478"/>
            <a:ext cx="1184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IMPACT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E84356-1210-E4D5-A85E-36750BE37B42}"/>
              </a:ext>
            </a:extLst>
          </p:cNvPr>
          <p:cNvSpPr txBox="1"/>
          <p:nvPr/>
        </p:nvSpPr>
        <p:spPr>
          <a:xfrm>
            <a:off x="945836" y="2235641"/>
            <a:ext cx="22089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Brings regional stories, traditions and</a:t>
            </a:r>
          </a:p>
          <a:p>
            <a:r>
              <a:rPr lang="en-IN" sz="1050" dirty="0"/>
              <a:t>indigenous games to life for the next</a:t>
            </a:r>
          </a:p>
          <a:p>
            <a:r>
              <a:rPr lang="en-IN" sz="1050" dirty="0"/>
              <a:t>generation.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BF5138-421D-A42C-494A-42D721821E2D}"/>
              </a:ext>
            </a:extLst>
          </p:cNvPr>
          <p:cNvSpPr txBox="1"/>
          <p:nvPr/>
        </p:nvSpPr>
        <p:spPr>
          <a:xfrm>
            <a:off x="927174" y="1941357"/>
            <a:ext cx="22089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Cultural Impact</a:t>
            </a:r>
            <a:endParaRPr lang="e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7C9D86-DB39-2C9C-470A-8DF9EC639D98}"/>
              </a:ext>
            </a:extLst>
          </p:cNvPr>
          <p:cNvSpPr txBox="1"/>
          <p:nvPr/>
        </p:nvSpPr>
        <p:spPr>
          <a:xfrm>
            <a:off x="4145153" y="1968525"/>
            <a:ext cx="22089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Educational Impact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6E17BA-B4B8-6F10-C2E5-C45568875D9A}"/>
              </a:ext>
            </a:extLst>
          </p:cNvPr>
          <p:cNvSpPr txBox="1"/>
          <p:nvPr/>
        </p:nvSpPr>
        <p:spPr>
          <a:xfrm>
            <a:off x="4145153" y="2264917"/>
            <a:ext cx="22089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Transforms passive memorisation into</a:t>
            </a:r>
            <a:br>
              <a:rPr lang="en-IN" sz="1000" dirty="0"/>
            </a:br>
            <a:r>
              <a:rPr lang="en-IN" sz="1000" dirty="0"/>
              <a:t>activity-based learning through stories</a:t>
            </a:r>
            <a:br>
              <a:rPr lang="en-IN" sz="1000" dirty="0"/>
            </a:br>
            <a:r>
              <a:rPr lang="en-IN" sz="1000" dirty="0"/>
              <a:t>and challenges.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C7F476-D266-CEBB-A850-77FEE8A7BAF5}"/>
              </a:ext>
            </a:extLst>
          </p:cNvPr>
          <p:cNvSpPr txBox="1"/>
          <p:nvPr/>
        </p:nvSpPr>
        <p:spPr>
          <a:xfrm>
            <a:off x="945836" y="3189470"/>
            <a:ext cx="2190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Accessibility Impact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35D3FF-DF59-098F-E05D-66B6F9F1F80B}"/>
              </a:ext>
            </a:extLst>
          </p:cNvPr>
          <p:cNvSpPr txBox="1"/>
          <p:nvPr/>
        </p:nvSpPr>
        <p:spPr>
          <a:xfrm>
            <a:off x="945836" y="3498035"/>
            <a:ext cx="2190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Browser-based, no-install learning</a:t>
            </a:r>
            <a:br>
              <a:rPr lang="en-IN" sz="1000" dirty="0"/>
            </a:br>
            <a:r>
              <a:rPr lang="en-IN" sz="1000" dirty="0"/>
              <a:t>designed for school computers, tablets</a:t>
            </a:r>
            <a:br>
              <a:rPr lang="en-IN" sz="1000" dirty="0"/>
            </a:br>
            <a:r>
              <a:rPr lang="en-IN" sz="1000" dirty="0"/>
              <a:t>and low-bandwidth access.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853E03-7D26-1219-0206-C75D066CEE30}"/>
              </a:ext>
            </a:extLst>
          </p:cNvPr>
          <p:cNvSpPr txBox="1"/>
          <p:nvPr/>
        </p:nvSpPr>
        <p:spPr>
          <a:xfrm>
            <a:off x="4145153" y="3207367"/>
            <a:ext cx="22089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Safe Digital Impact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FDC1B2-5378-DDBF-445E-D6E8EDAE324D}"/>
              </a:ext>
            </a:extLst>
          </p:cNvPr>
          <p:cNvSpPr txBox="1"/>
          <p:nvPr/>
        </p:nvSpPr>
        <p:spPr>
          <a:xfrm>
            <a:off x="4145153" y="3498035"/>
            <a:ext cx="22089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Provides child-focused guidance using</a:t>
            </a:r>
            <a:br>
              <a:rPr lang="en-IN" sz="1000" dirty="0"/>
            </a:br>
            <a:r>
              <a:rPr lang="en-IN" sz="1000" dirty="0"/>
              <a:t>reviewed facts, privacy protection and</a:t>
            </a:r>
            <a:br>
              <a:rPr lang="en-IN" sz="1000" dirty="0"/>
            </a:br>
            <a:r>
              <a:rPr lang="en-IN" sz="1000" dirty="0"/>
              <a:t>multi-layer safety filters.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9DC717-28B9-23A9-ED3F-2405F6EA2710}"/>
              </a:ext>
            </a:extLst>
          </p:cNvPr>
          <p:cNvSpPr txBox="1"/>
          <p:nvPr/>
        </p:nvSpPr>
        <p:spPr>
          <a:xfrm>
            <a:off x="1741026" y="4360598"/>
            <a:ext cx="1627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National Impact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B933DB-20B6-EBFC-368D-8E3054987A83}"/>
              </a:ext>
            </a:extLst>
          </p:cNvPr>
          <p:cNvSpPr txBox="1"/>
          <p:nvPr/>
        </p:nvSpPr>
        <p:spPr>
          <a:xfrm>
            <a:off x="1741027" y="4651926"/>
            <a:ext cx="3970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A reusable platform where new regions and cultural experiences can be</a:t>
            </a:r>
            <a:br>
              <a:rPr lang="en-IN" sz="1000" dirty="0"/>
            </a:br>
            <a:r>
              <a:rPr lang="en-IN" sz="1000" dirty="0"/>
              <a:t>added—building a scalable digital heritage learning network for India.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CD0150-A4C9-B218-2878-69213FF037E2}"/>
              </a:ext>
            </a:extLst>
          </p:cNvPr>
          <p:cNvSpPr txBox="1"/>
          <p:nvPr/>
        </p:nvSpPr>
        <p:spPr>
          <a:xfrm>
            <a:off x="1705224" y="5558148"/>
            <a:ext cx="1404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DISCOVER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792C6A-59B5-54B1-C89C-5B90CF090FDD}"/>
              </a:ext>
            </a:extLst>
          </p:cNvPr>
          <p:cNvSpPr txBox="1"/>
          <p:nvPr/>
        </p:nvSpPr>
        <p:spPr>
          <a:xfrm>
            <a:off x="3293707" y="5558148"/>
            <a:ext cx="569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PLAY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A280D7-7F42-A017-21D9-992BF2BEB611}"/>
              </a:ext>
            </a:extLst>
          </p:cNvPr>
          <p:cNvSpPr txBox="1"/>
          <p:nvPr/>
        </p:nvSpPr>
        <p:spPr>
          <a:xfrm>
            <a:off x="4552125" y="5568734"/>
            <a:ext cx="866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RESTORE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1C64D3-A88E-B17B-9182-A30206AE7CF6}"/>
              </a:ext>
            </a:extLst>
          </p:cNvPr>
          <p:cNvSpPr/>
          <p:nvPr/>
        </p:nvSpPr>
        <p:spPr>
          <a:xfrm>
            <a:off x="6510730" y="1467853"/>
            <a:ext cx="4835785" cy="2165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3521AE-A6C8-6811-4394-5AAEBC93953F}"/>
              </a:ext>
            </a:extLst>
          </p:cNvPr>
          <p:cNvSpPr/>
          <p:nvPr/>
        </p:nvSpPr>
        <p:spPr>
          <a:xfrm>
            <a:off x="329773" y="1467853"/>
            <a:ext cx="4835785" cy="21656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4CB71-C7B4-D31E-03E2-5D8E7F746A02}"/>
              </a:ext>
            </a:extLst>
          </p:cNvPr>
          <p:cNvSpPr txBox="1"/>
          <p:nvPr/>
        </p:nvSpPr>
        <p:spPr>
          <a:xfrm>
            <a:off x="1090863" y="1464142"/>
            <a:ext cx="541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SUPPORTING RESEARCH PAPERS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E704E-821C-F7E1-DA19-0AC51C0EB54D}"/>
              </a:ext>
            </a:extLst>
          </p:cNvPr>
          <p:cNvSpPr txBox="1"/>
          <p:nvPr/>
        </p:nvSpPr>
        <p:spPr>
          <a:xfrm>
            <a:off x="329773" y="1906808"/>
            <a:ext cx="499711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Clark, D. B., Tanner-Smith, E. E., &amp; Killingsworth, S. S. (2016). Digital Games, Design, and Learning: A Systematic Review and Meta-Analysis. Review of Educational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Mortara, M., Catalano, C. E., Bellotti, F., et al. (2014). Learning Cultural Heritage by Serious Games. Journal of Cultural Heritage.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UNICEF. Policy Guidance on AI for Children.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UNESCO. (2023). Guidance for Generative AI in Education and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Government of India. (2020). National Education Policy 2020.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03406-6A17-C6F5-3B2F-DF315AA5ABD0}"/>
              </a:ext>
            </a:extLst>
          </p:cNvPr>
          <p:cNvSpPr txBox="1"/>
          <p:nvPr/>
        </p:nvSpPr>
        <p:spPr>
          <a:xfrm>
            <a:off x="7983329" y="1398975"/>
            <a:ext cx="4708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2">
                    <a:lumMod val="75000"/>
                  </a:schemeClr>
                </a:solidFill>
              </a:rPr>
              <a:t>DATA SOURCES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B2045D-682E-A07E-A59C-F15F7114F229}"/>
              </a:ext>
            </a:extLst>
          </p:cNvPr>
          <p:cNvSpPr txBox="1"/>
          <p:nvPr/>
        </p:nvSpPr>
        <p:spPr>
          <a:xfrm>
            <a:off x="6510730" y="1722141"/>
            <a:ext cx="5638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/>
              <a:t>NCERT Textbooks — Indian history and age-appropriate educational content</a:t>
            </a:r>
            <a:br>
              <a:rPr lang="en-US" sz="1000" dirty="0"/>
            </a:br>
            <a:r>
              <a:rPr lang="en-US" sz="1000" u="sng" dirty="0">
                <a:hlinkClick r:id="rId4"/>
              </a:rPr>
              <a:t>https://ncert.nic.in/textbook.php</a:t>
            </a:r>
            <a:endParaRPr lang="en-US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/>
              <a:t>UNESCO World Heritage Centre — Mohenjo-daro and Nalanda Mahavihara</a:t>
            </a:r>
            <a:br>
              <a:rPr lang="en-US" sz="1000" dirty="0"/>
            </a:br>
            <a:r>
              <a:rPr lang="en-US" sz="1000" u="sng" dirty="0">
                <a:hlinkClick r:id="rId5"/>
              </a:rPr>
              <a:t>https://whc.unesco.org/</a:t>
            </a:r>
            <a:endParaRPr lang="en-US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/>
              <a:t>Archaeological Survey of India — Archaeological and monument information</a:t>
            </a:r>
            <a:br>
              <a:rPr lang="en-US" sz="1000" dirty="0"/>
            </a:br>
            <a:r>
              <a:rPr lang="en-US" sz="1000" u="sng" dirty="0">
                <a:hlinkClick r:id="rId6"/>
              </a:rPr>
              <a:t>https://asi.nic.in/</a:t>
            </a:r>
            <a:endParaRPr lang="en-US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/>
              <a:t>Ministry of Culture — Indian art, traditions and intangible heritage</a:t>
            </a:r>
            <a:br>
              <a:rPr lang="en-US" sz="1000" dirty="0"/>
            </a:br>
            <a:r>
              <a:rPr lang="en-US" sz="1000" u="sng" dirty="0">
                <a:hlinkClick r:id="rId7"/>
              </a:rPr>
              <a:t>https://www.indiaculture.gov.in/</a:t>
            </a:r>
            <a:endParaRPr lang="en-US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/>
              <a:t>Kholo India &amp; Sports Authority of India — Indigenous sports and traditional games</a:t>
            </a:r>
            <a:br>
              <a:rPr lang="en-US" sz="1000" dirty="0"/>
            </a:br>
            <a:r>
              <a:rPr lang="en-US" sz="1000" u="sng" dirty="0">
                <a:hlinkClick r:id="rId8"/>
              </a:rPr>
              <a:t>https://kheloindia.gov.in/</a:t>
            </a:r>
            <a:endParaRPr lang="en-US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/>
              <a:t>UNICEF &amp; UNESCO — Child-safe and responsible AI guidance</a:t>
            </a:r>
            <a:br>
              <a:rPr lang="en-US" sz="1000" dirty="0"/>
            </a:br>
            <a:r>
              <a:rPr lang="en-US" sz="1000" u="sng" dirty="0">
                <a:hlinkClick r:id="rId9"/>
              </a:rPr>
              <a:t>https://www.unicef.org/innocenti/reports/policy-guidance-ai-children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5DA536-B603-C876-6144-920753B31B2F}"/>
              </a:ext>
            </a:extLst>
          </p:cNvPr>
          <p:cNvSpPr/>
          <p:nvPr/>
        </p:nvSpPr>
        <p:spPr>
          <a:xfrm>
            <a:off x="264694" y="3938132"/>
            <a:ext cx="4835785" cy="216568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988FFA-7BA6-2E6D-F4B4-884739F69341}"/>
              </a:ext>
            </a:extLst>
          </p:cNvPr>
          <p:cNvSpPr txBox="1"/>
          <p:nvPr/>
        </p:nvSpPr>
        <p:spPr>
          <a:xfrm>
            <a:off x="1403685" y="3938132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3">
                    <a:lumMod val="50000"/>
                  </a:schemeClr>
                </a:solidFill>
              </a:rPr>
              <a:t>MARKET RESEARCH</a:t>
            </a:r>
            <a:endParaRPr lang="en-US" u="sng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u="sng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4B233-C3B8-0E9D-6353-8CAF968134A8}"/>
              </a:ext>
            </a:extLst>
          </p:cNvPr>
          <p:cNvSpPr txBox="1"/>
          <p:nvPr/>
        </p:nvSpPr>
        <p:spPr>
          <a:xfrm>
            <a:off x="192506" y="4176951"/>
            <a:ext cx="4997114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Large Target Audience:</a:t>
            </a:r>
            <a:r>
              <a:rPr lang="en-US" sz="1100" dirty="0"/>
              <a:t> India has a vast school-going population, creating strong demand for engaging and curriculum-relevant digital learning tools.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Clear Market Gap:</a:t>
            </a:r>
            <a:r>
              <a:rPr lang="en-US" sz="1100" dirty="0"/>
              <a:t> Most heritage platforms provide static text, images or videos; very few offer </a:t>
            </a:r>
            <a:r>
              <a:rPr lang="en-US" sz="1100" b="1" dirty="0"/>
              <a:t>story-driven exploration, cultural mini-games and multilingual interaction</a:t>
            </a:r>
            <a:r>
              <a:rPr lang="en-US" sz="1100" dirty="0"/>
              <a:t> together.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Growing Institutional Demand:</a:t>
            </a:r>
            <a:r>
              <a:rPr lang="en-US" sz="1100" dirty="0"/>
              <a:t> NEP 2020 encourages experiential learning, Indian Knowledge Systems, regional languages and technology-enabled education.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Scalable Adoption Opportunity:</a:t>
            </a:r>
            <a:r>
              <a:rPr lang="en-US" sz="1100" dirty="0"/>
              <a:t> BharatVerse can reach private and government schools through partnerships with </a:t>
            </a:r>
            <a:r>
              <a:rPr lang="en-US" sz="1100" b="1" dirty="0"/>
              <a:t>education departments, NGOs, museums and CSR programmes</a:t>
            </a:r>
            <a:r>
              <a:rPr lang="en-US" sz="1100" dirty="0"/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5A7B33E-A6AA-0267-1E40-31401C89BD82}"/>
              </a:ext>
            </a:extLst>
          </p:cNvPr>
          <p:cNvSpPr/>
          <p:nvPr/>
        </p:nvSpPr>
        <p:spPr>
          <a:xfrm>
            <a:off x="6534792" y="3938132"/>
            <a:ext cx="4835785" cy="21656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AB68AD-C1C9-BFF3-AB4F-FE9BD35A7A27}"/>
              </a:ext>
            </a:extLst>
          </p:cNvPr>
          <p:cNvSpPr txBox="1"/>
          <p:nvPr/>
        </p:nvSpPr>
        <p:spPr>
          <a:xfrm>
            <a:off x="7399921" y="3938132"/>
            <a:ext cx="4835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TECHNICAL DOCUMENTATION</a:t>
            </a:r>
            <a:endParaRPr lang="en-US" u="sng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FE34CE-3B29-D95C-04FB-E4245C5FAB01}"/>
              </a:ext>
            </a:extLst>
          </p:cNvPr>
          <p:cNvSpPr txBox="1"/>
          <p:nvPr/>
        </p:nvSpPr>
        <p:spPr>
          <a:xfrm>
            <a:off x="6534792" y="4261297"/>
            <a:ext cx="483578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System Architecture:</a:t>
            </a:r>
            <a:r>
              <a:rPr lang="en-US" sz="1200" dirty="0"/>
              <a:t> React and TypeScript frontend with a custom HTML5 Canvas game engine and modular heritage-world structure.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Data Management:</a:t>
            </a:r>
            <a:r>
              <a:rPr lang="en-US" sz="1200" dirty="0"/>
              <a:t> Structured JSON/TypeScript files store regions, NPCs and stories; LocalStorage automatically saves player progress.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AI and Voice Module:</a:t>
            </a:r>
            <a:r>
              <a:rPr lang="en-US" sz="1200" dirty="0"/>
              <a:t> Smriti Didi supports multilingual voice interaction with verified facts and child-safety filters.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Testing and Deployment:</a:t>
            </a:r>
            <a:r>
              <a:rPr lang="en-US" sz="1200" dirty="0"/>
              <a:t> Type checking, gameplay-solvability validation and automated UI tests ensure a reliable browser-based release.</a:t>
            </a:r>
          </a:p>
          <a:p>
            <a:endParaRPr lang="en-US" dirty="0"/>
          </a:p>
        </p:txBody>
      </p:sp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4A5756D9-2BC5-80C7-A941-E782500707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3264" y="173083"/>
            <a:ext cx="1425875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Beyonders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8030</TotalTime>
  <Words>1365</Words>
  <Application>Microsoft Office PowerPoint</Application>
  <PresentationFormat>Widescreen</PresentationFormat>
  <Paragraphs>141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BharatVerse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Raj Gupta</cp:lastModifiedBy>
  <cp:revision>152</cp:revision>
  <dcterms:created xsi:type="dcterms:W3CDTF">2013-12-12T18:46:50Z</dcterms:created>
  <dcterms:modified xsi:type="dcterms:W3CDTF">2026-09-09T04:56:16Z</dcterms:modified>
  <cp:category/>
</cp:coreProperties>
</file>